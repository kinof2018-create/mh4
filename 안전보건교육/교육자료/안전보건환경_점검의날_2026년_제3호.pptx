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9945688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0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706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4180" tIns="42090" rIns="84180" bIns="4209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4180" tIns="42090" rIns="84180" bIns="42090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50" cy="106886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71048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1E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안전보건환경 점검의 날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228600" y="1115568"/>
            <a:ext cx="7104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7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제3호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502920" y="1577472"/>
            <a:ext cx="6428232" cy="603504"/>
          </a:xfrm>
          <a:prstGeom prst="roundRect">
            <a:avLst>
              <a:gd name="adj" fmla="val 15152"/>
            </a:avLst>
          </a:prstGeom>
          <a:solidFill>
            <a:srgbClr val="FF0000"/>
          </a:solidFill>
          <a:ln/>
          <a:effectLst>
            <a:outerShdw blurRad="50800" dist="25400" dir="5400000" algn="bl" rotWithShape="0">
              <a:srgbClr val="C9700C">
                <a:alpha val="28000"/>
              </a:srgbClr>
            </a:outerShdw>
          </a:effectLst>
        </p:spPr>
        <p:txBody>
          <a:bodyPr/>
          <a:lstStyle/>
          <a:p>
            <a:endParaRPr lang="ko-KR" altLang="en-US" dirty="0">
              <a:highlight>
                <a:srgbClr val="00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1591056"/>
            <a:ext cx="64282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여름! 무재해의 시작은 ‘사전 대비’부터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2432304"/>
            <a:ext cx="6647688" cy="1755648"/>
          </a:xfrm>
          <a:prstGeom prst="roundRect">
            <a:avLst>
              <a:gd name="adj" fmla="val 5208"/>
            </a:avLst>
          </a:prstGeom>
          <a:solidFill>
            <a:schemeClr val="accent4"/>
          </a:solidFill>
          <a:ln w="12700">
            <a:solidFill>
              <a:srgbClr val="DCE6F1"/>
            </a:solidFill>
            <a:prstDash val="solid"/>
          </a:ln>
          <a:effectLst>
            <a:outerShdw blurRad="88900" dist="38100" dir="8100000" algn="bl" rotWithShape="0">
              <a:srgbClr val="5C7393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8368" y="2679192"/>
            <a:ext cx="1261872" cy="1261872"/>
          </a:xfrm>
          <a:prstGeom prst="roundRect">
            <a:avLst>
              <a:gd name="adj" fmla="val 9420"/>
            </a:avLst>
          </a:prstGeom>
          <a:solidFill>
            <a:srgbClr val="FCE3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807208"/>
            <a:ext cx="1005840" cy="1005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21408" y="26334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온열질환 예방하기</a:t>
            </a:r>
            <a:r>
              <a:rPr lang="en-US" sz="1400" b="1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(폭염·고온 주의)</a:t>
            </a:r>
            <a:endParaRPr lang="en-US" sz="2100" b="1" dirty="0"/>
          </a:p>
        </p:txBody>
      </p:sp>
      <p:sp>
        <p:nvSpPr>
          <p:cNvPr id="11" name="Text 8"/>
          <p:cNvSpPr/>
          <p:nvPr/>
        </p:nvSpPr>
        <p:spPr>
          <a:xfrm>
            <a:off x="2176272" y="3145536"/>
            <a:ext cx="492861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 물 자주 마시고 수분 충분히 섭취하기</a:t>
            </a:r>
            <a:endParaRPr lang="en-US" sz="14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 한낮(12~17시) 무더위 시간대 피하기</a:t>
            </a:r>
            <a:endParaRPr lang="en-US" sz="14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 그늘·휴식공간에서 자주 쉬어가기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57200" y="4297680"/>
            <a:ext cx="6647688" cy="1755648"/>
          </a:xfrm>
          <a:prstGeom prst="roundRect">
            <a:avLst>
              <a:gd name="adj" fmla="val 5208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CE6F1"/>
            </a:solidFill>
            <a:prstDash val="solid"/>
          </a:ln>
          <a:effectLst>
            <a:outerShdw blurRad="88900" dist="38100" dir="8100000" algn="bl" rotWithShape="0">
              <a:srgbClr val="5C7393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58368" y="4544568"/>
            <a:ext cx="1261872" cy="1261872"/>
          </a:xfrm>
          <a:prstGeom prst="roundRect">
            <a:avLst>
              <a:gd name="adj" fmla="val 9420"/>
            </a:avLst>
          </a:prstGeom>
          <a:solidFill>
            <a:srgbClr val="D6E6F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4627562"/>
            <a:ext cx="1005840" cy="10058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21408" y="44988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장마철 대비하기</a:t>
            </a:r>
            <a:r>
              <a:rPr lang="en-US" sz="1400" b="1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(집중호우·침수 주의)</a:t>
            </a:r>
            <a:endParaRPr lang="en-US" sz="2100" b="1" dirty="0"/>
          </a:p>
        </p:txBody>
      </p:sp>
      <p:sp>
        <p:nvSpPr>
          <p:cNvPr id="16" name="Text 12"/>
          <p:cNvSpPr/>
          <p:nvPr/>
        </p:nvSpPr>
        <p:spPr>
          <a:xfrm>
            <a:off x="2176272" y="5010912"/>
            <a:ext cx="492861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 배수로·하수구 막힘 미리 점검하기</a:t>
            </a:r>
            <a:endParaRPr lang="en-US" sz="14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 옥상·창틀 빗물 새는 곳 확인하기</a:t>
            </a:r>
            <a:endParaRPr lang="en-US" sz="14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 침수 우려 물품 높은 곳으로 옮기기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57200" y="6163056"/>
            <a:ext cx="6647688" cy="1755648"/>
          </a:xfrm>
          <a:prstGeom prst="roundRect">
            <a:avLst>
              <a:gd name="adj" fmla="val 5208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DCE6F1"/>
            </a:solidFill>
            <a:prstDash val="solid"/>
          </a:ln>
          <a:effectLst>
            <a:outerShdw blurRad="88900" dist="38100" dir="8100000" algn="bl" rotWithShape="0">
              <a:srgbClr val="5C7393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58368" y="6409944"/>
            <a:ext cx="1261872" cy="1261872"/>
          </a:xfrm>
          <a:prstGeom prst="roundRect">
            <a:avLst>
              <a:gd name="adj" fmla="val 9420"/>
            </a:avLst>
          </a:prstGeom>
          <a:solidFill>
            <a:srgbClr val="FBEFC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6537960"/>
            <a:ext cx="1005840" cy="10058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121408" y="63642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감전·누전 예방하기</a:t>
            </a:r>
            <a:r>
              <a:rPr lang="en-US" sz="1400" b="1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(습한 날씨 주의)</a:t>
            </a:r>
            <a:endParaRPr lang="en-US" sz="2100" b="1" dirty="0"/>
          </a:p>
        </p:txBody>
      </p:sp>
      <p:sp>
        <p:nvSpPr>
          <p:cNvPr id="21" name="Text 16"/>
          <p:cNvSpPr/>
          <p:nvPr/>
        </p:nvSpPr>
        <p:spPr>
          <a:xfrm>
            <a:off x="2176272" y="6876288"/>
            <a:ext cx="492861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 젖은 손으로 전기기구 만지지 않기</a:t>
            </a:r>
            <a:endParaRPr lang="en-US" sz="14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 누전차단기 정상 작동 여부 확인하기</a:t>
            </a:r>
            <a:endParaRPr lang="en-US" sz="14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 낡거나 벗겨진 전선 즉시 교체하기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457200" y="8028432"/>
            <a:ext cx="6647688" cy="1755648"/>
          </a:xfrm>
          <a:prstGeom prst="roundRect">
            <a:avLst>
              <a:gd name="adj" fmla="val 5208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DCE6F1"/>
            </a:solidFill>
            <a:prstDash val="solid"/>
          </a:ln>
          <a:effectLst>
            <a:outerShdw blurRad="88900" dist="38100" dir="8100000" algn="bl" rotWithShape="0">
              <a:srgbClr val="5C7393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658368" y="8275320"/>
            <a:ext cx="1261872" cy="1261872"/>
          </a:xfrm>
          <a:prstGeom prst="roundRect">
            <a:avLst>
              <a:gd name="adj" fmla="val 9420"/>
            </a:avLst>
          </a:prstGeom>
          <a:solidFill>
            <a:srgbClr val="DEEBD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8403336"/>
            <a:ext cx="1005840" cy="10058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121408" y="8229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식중독 예방하기</a:t>
            </a:r>
            <a:r>
              <a:rPr lang="en-US" sz="1400" b="1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(개인위생 철저)</a:t>
            </a:r>
            <a:endParaRPr lang="en-US" sz="2100" b="1" dirty="0"/>
          </a:p>
        </p:txBody>
      </p:sp>
      <p:sp>
        <p:nvSpPr>
          <p:cNvPr id="26" name="Text 20"/>
          <p:cNvSpPr/>
          <p:nvPr/>
        </p:nvSpPr>
        <p:spPr>
          <a:xfrm>
            <a:off x="2176272" y="8741664"/>
            <a:ext cx="492861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 흐르는 물에 손 30초 이상 씻기</a:t>
            </a:r>
            <a:endParaRPr lang="en-US" sz="14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 음식은 충분히 익히고 끓여 먹기</a:t>
            </a:r>
            <a:endParaRPr lang="en-US" sz="14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4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 냉장·냉동식품 보관온도 점검하기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449912" y="101159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급할수록 침착하게  바쁠수록 여유롭게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468112" y="9930384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55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414A34C-027B-6ACD-9FDC-E42AEE9E6162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96125" y="9880689"/>
            <a:ext cx="2082103" cy="578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138</Words>
  <Application>Microsoft Office PowerPoint</Application>
  <PresentationFormat>사용자 지정</PresentationFormat>
  <Paragraphs>21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스스로 안전보건환경 점검의 날 - 2026년 제3호</dc:title>
  <dc:subject>PptxGenJS Presentation</dc:subject>
  <dc:creator>삼화당피앤티</dc:creator>
  <cp:lastModifiedBy>Office</cp:lastModifiedBy>
  <cp:revision>4</cp:revision>
  <cp:lastPrinted>2026-05-26T06:26:02Z</cp:lastPrinted>
  <dcterms:created xsi:type="dcterms:W3CDTF">2026-05-26T06:12:43Z</dcterms:created>
  <dcterms:modified xsi:type="dcterms:W3CDTF">2026-05-26T08:40:54Z</dcterms:modified>
</cp:coreProperties>
</file>